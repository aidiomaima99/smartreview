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Faculté Polydisciplinaire de Taroudant — Master Big Data &amp; IA  |  2025–2026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554480"/>
            <a:ext cx="9966960" cy="73152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691640"/>
            <a:ext cx="9966960" cy="196596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SmartReview</a:t>
            </a:r>
          </a:p>
          <a:p>
            <a:pPr algn="ctr"/>
            <a:r>
              <a:rPr sz="2000" b="0" i="0">
                <a:solidFill>
                  <a:srgbClr val="F0D0D8"/>
                </a:solidFill>
                <a:latin typeface="Georgia"/>
              </a:rPr>
              <a:t>Machine Learning for Customer Review Analysis</a:t>
            </a:r>
          </a:p>
          <a:p>
            <a:pPr algn="ctr">
              <a:spcBef>
                <a:spcPts val="10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Soutenance Flash — Step 7 : Publication &amp; Dissémination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657600"/>
            <a:ext cx="9966960" cy="73152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81828"/>
                </a:solidFill>
                <a:latin typeface="Calibri"/>
              </a:rPr>
              <a:t>Réalisé par :  AIDI Omaima  ·  ELMOUSSAOUI Fatima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81828"/>
                </a:solidFill>
                <a:latin typeface="Calibri"/>
              </a:rPr>
              <a:t>Encadrant : Prof. Mohamed EL HAJJI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81828"/>
                </a:solidFill>
                <a:latin typeface="Calibri"/>
              </a:rPr>
              <a:t>Module : Méthodologie de recherche  |  Master BD &amp; IA — Temps aménagé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81828"/>
                </a:solidFill>
                <a:latin typeface="Calibri"/>
              </a:rPr>
              <a:t>Parcours Steps 1 → 7  ·  De la problématique à la publication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Abstract — En une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43000"/>
            <a:ext cx="11247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Contexte : automatiser la polarité (+/−) des avis clients (NLP + ML).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Méthode : benchmark contrôlé NB / LR / SVM / RF sur IMDb 50K + TF-IDF (5 000, uni+bi).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Design : split 80/20 stratifié, random_state=42, CV 5-fold, ablation prétraitement NLP.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Résultat clé : Logistic Regression — F1 = 0.889 · Accuracy = 88.71 % · ~1.8 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Hypothèses : H1 nuancée · H2 partielle · H3 confirmée (compromis perf / temps).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2D2A2E"/>
                </a:solidFill>
                <a:latin typeface="Calibri"/>
              </a:rPr>
              <a:t>Livrable : manuscript IEEE + fiche canal (ICMLA) + démo Streamlit SmartReview Lite.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1 — Problématique &amp; question de recherche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Contexte &amp; enjeu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Explosion des avis en ligne (e-commerce, plateformes).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Lecture manuelle impossible à grande échelle.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NLP + ML permettent d’automatiser la classification.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Mais : quel algorithme classique choisir sous contraintes ?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Enjeux : scientifiques, techniques et économiques.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8F0F0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Question principale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Parmi Naive Bayes, Régression Logistique,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SVM et Random Forest, quel modèle offre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les meilleures performances pour classer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des avis (TF-IDF) en positif / négatif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Sous-questions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Effet du prétraitement NLP ?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Avantages / limites de chaque modèle ?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Meilleur compromis précision / rapidité / simplicité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2 — Revue de littérature &amp; cadre théorique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188720"/>
            <a:ext cx="109728" cy="137160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S1 · Revue systématique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645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Mao et al.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Cartographie des méthodes, applications et défis de l’analyse de sentiments.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109728" cy="1371600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S2 · Papier tutoriel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00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Jurafsky &amp; Martin (2023)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Fondements NLP : prétraitement, TF-IDF, classification de texte.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109728" cy="1371600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S3 · Article original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Puh &amp; Bagic Babac 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Benchmark ML sur avis réels : SVM ≈ 80 %, NB ≈ 73 % (TF-IDF).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3 — Hypothèses de recherche (Si… alors… parce que…)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1887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6596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SVM bat NB, LR et RF en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6080"/>
                </a:solidFill>
                <a:latin typeface="Calibri"/>
              </a:rPr>
              <a:t>Parce 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SVM adapté aux espaces TF-IDF haute dimension.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1887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37160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96596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Le prétraitement NLP améliore tous les modèles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566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6080"/>
                </a:solidFill>
                <a:latin typeface="Calibri"/>
              </a:rPr>
              <a:t>Parce 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Moins de bruit → TF-IDF plus discriminant.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1887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79" y="137160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196596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LR = meilleur compromis perf / temps / simplicité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3566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6080"/>
                </a:solidFill>
                <a:latin typeface="Calibri"/>
              </a:rPr>
              <a:t>Parce 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39319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Déploiement léger (SmartReview Lite).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4 — Plan expérimental (roadmap)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600200"/>
            <a:ext cx="10058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IMDb 50K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pos / neg</a:t>
            </a:r>
          </a:p>
        </p:txBody>
      </p:sp>
      <p:sp>
        <p:nvSpPr>
          <p:cNvPr id="17" name="Oval 16"/>
          <p:cNvSpPr/>
          <p:nvPr/>
        </p:nvSpPr>
        <p:spPr>
          <a:xfrm>
            <a:off x="283464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600200"/>
            <a:ext cx="10058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3172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Nettoyage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stopwords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600200"/>
            <a:ext cx="10058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TF-IDF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5 000 feat.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uni + bi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600200"/>
            <a:ext cx="10058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Modèles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NB · LR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SVM · RF</a:t>
            </a:r>
          </a:p>
        </p:txBody>
      </p:sp>
      <p:sp>
        <p:nvSpPr>
          <p:cNvPr id="32" name="Oval 31"/>
          <p:cNvSpPr/>
          <p:nvPr/>
        </p:nvSpPr>
        <p:spPr>
          <a:xfrm>
            <a:off x="873252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600200"/>
            <a:ext cx="10058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Métriques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Acc · F1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Temps · CV</a:t>
            </a:r>
          </a:p>
        </p:txBody>
      </p:sp>
      <p:sp>
        <p:nvSpPr>
          <p:cNvPr id="37" name="Oval 36"/>
          <p:cNvSpPr/>
          <p:nvPr/>
        </p:nvSpPr>
        <p:spPr>
          <a:xfrm>
            <a:off x="10698480" y="1325880"/>
            <a:ext cx="640080" cy="640080"/>
          </a:xfrm>
          <a:prstGeom prst="ellipse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19456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81828"/>
                </a:solidFill>
                <a:latin typeface="Calibri"/>
              </a:rPr>
              <a:t>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Streamlit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D2A2E"/>
                </a:solidFill>
                <a:latin typeface="Calibri"/>
              </a:rPr>
              <a:t>prédiction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5 — Collecte &amp; expérimentation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Protocole exécuté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Dataset : IMDb 50K (Maas et al., 2011).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Split : 80 % train / 20 % test, stratifié, seed=42.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2 conditions : avec / sans prétraitement NLP (H2).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Vectorisation : TF-IDF max_features=5000, ngram=(1,2).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4 modèles scikit-learn entraînés sur le même split.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Sorties : métriques CSV/JSON, figures, modèles .joblib.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4300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8F0F0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Stack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7373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Python · pandas · scikit-learn · NLTK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matplotlib / seaborn (figures)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joblib (sauvegarde des pipelines)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Streamlit (démonstration interactive)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Reproductibilité : même seed → mêmes scores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Code : src/train_evaluate.py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6 — Résultats principaux (avec NLP)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143000"/>
            <a:ext cx="5760720" cy="41148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00200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F8F0F0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09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81828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1709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81828"/>
                </a:solidFill>
                <a:latin typeface="Calibri"/>
              </a:rPr>
              <a:t>88.71 %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709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81828"/>
                </a:solidFill>
                <a:latin typeface="Calibri"/>
              </a:rPr>
              <a:t>0.889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709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81828"/>
                </a:solidFill>
                <a:latin typeface="Calibri"/>
              </a:rPr>
              <a:t>1.8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240280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D2A2E"/>
                </a:solidFill>
                <a:latin typeface="Calibri"/>
              </a:rPr>
              <a:t>SVM (LinearSVC)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88.39 %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0.885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1.2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880360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990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D2A2E"/>
                </a:solidFill>
                <a:latin typeface="Calibri"/>
              </a:rPr>
              <a:t>Naive Bayes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990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85.98 %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990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0.863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990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0.05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520439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3016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D2A2E"/>
                </a:solidFill>
                <a:latin typeface="Calibri"/>
              </a:rPr>
              <a:t>Random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363016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85.15 %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63016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0.852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63016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D2A2E"/>
                </a:solidFill>
                <a:latin typeface="Calibri"/>
              </a:rPr>
              <a:t>77 s</a:t>
            </a:r>
          </a:p>
        </p:txBody>
      </p:sp>
      <p:pic>
        <p:nvPicPr>
          <p:cNvPr id="37" name="Picture 36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03520" cy="261602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Validation des hypothèses H1 · H2 · H3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40" y="438912"/>
            <a:ext cx="14630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8872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64592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6459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A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Nuancée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6002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SVM ne domine pas : LR meilleur F1 (0.889 vs 0.885). Écart faible mais clair.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2461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A0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Partielle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00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NLP améliore 2/4 modèles seulement (NB, RF). LR et SVM légèrement baissent.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846320"/>
            <a:ext cx="10058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Confirmée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8006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D2A2E"/>
                </a:solidFill>
                <a:latin typeface="Calibri"/>
              </a:rPr>
              <a:t>LR maximise le compromis F1 / temps / simplicité → choix SmartReview Lite.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B5E63"/>
                </a:solidFill>
                <a:latin typeface="Calibri"/>
              </a:rPr>
              <a:t>En recherche : nuancer / réfuter une hypothèse est aussi valide que la confirmer.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Discussion — Apports, limites &amp; menaces à la validité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40" y="438912"/>
            <a:ext cx="146304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Apports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Benchmark reproductible 4 modèles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Ablation NLP (design A/B)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Critère multi-objectif (F1×temps)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Artefact déployable (Streamlit)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4300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8F0F0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Limites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830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Domaine cinéma uniquement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Anglais seulement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TF-IDF : ironie / sarcasme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Hyperparamètres simples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5661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Validité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Externe : transfert domaine ?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Construit : features bag-of-words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Interne : pas de grid-search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2D2A2E"/>
                </a:solidFill>
                <a:latin typeface="Calibri"/>
              </a:rPr>
              <a:t>Conclusion : Δ LR–SVM petit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Step 7 — Publication &amp; dissémination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38912"/>
            <a:ext cx="128016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8872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188720"/>
            <a:ext cx="128016" cy="100584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Manuscript IEEE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Article 4 pages (IEEEtran) — méthode, résultats, figures Step 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3172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128016" cy="1005840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Canal choisi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IEEE ICMLA — actes IEEE Xplore · Scopus · DBLP.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128016" cy="100584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Audit prédateurs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77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ICMLA / IEEE absents de The Predatory Journals List → choix sûr.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128016" cy="1005840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81828"/>
                </a:solidFill>
                <a:latin typeface="Calibri"/>
              </a:rPr>
              <a:t>Dissémination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D2A2E"/>
                </a:solidFill>
                <a:latin typeface="Calibri"/>
              </a:rPr>
              <a:t>Code + modèles + Streamlit Lite + dossier livraison/.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4063900" cy="109728"/>
          </a:xfrm>
          <a:prstGeom prst="rect">
            <a:avLst/>
          </a:prstGeom>
          <a:solidFill>
            <a:srgbClr val="C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48272"/>
            <a:ext cx="4063900" cy="109728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48272"/>
            <a:ext cx="4063900" cy="109728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5E63"/>
                </a:solidFill>
                <a:latin typeface="Calibri"/>
              </a:rPr>
              <a:t>SmartReview · Master BD &amp; IA · Méthodologie de recherche · M. EL HAJJI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681828"/>
                </a:solidFill>
                <a:latin typeface="Georgia"/>
              </a:rPr>
              <a:t>Conclusion &amp; perspectives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463040" cy="54864"/>
          </a:xfrm>
          <a:prstGeom prst="rect">
            <a:avLst/>
          </a:prstGeom>
          <a:solidFill>
            <a:srgbClr val="B8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0" y="438912"/>
            <a:ext cx="1097280" cy="347472"/>
          </a:xfrm>
          <a:prstGeom prst="roundRect">
            <a:avLst>
              <a:gd name="adj" fmla="val 15000"/>
            </a:avLst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56692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830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Déployer Logistic Regression pour SmartReview Lite.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Cycle Steps 1→7 complété : problématique → publication.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Hypothèses testées avec transparence scientifique.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Artefacts prêts : PDF IEEE, fiche canal, code, démo.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14300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F8F0F0"/>
          </a:solidFill>
          <a:ln w="12700">
            <a:solidFill>
              <a:srgbClr val="C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81828"/>
                </a:solidFill>
                <a:latin typeface="Calibri"/>
              </a:rPr>
              <a:t>Perspectives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Corpus multi-domaines (Amazon, hôtels…)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Embeddings / DistilBERT sous contrainte budget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Optimisation d’hyperparamètres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B86080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D2A2E"/>
                </a:solidFill>
                <a:latin typeface="Calibri"/>
              </a:rPr>
              <a:t>Explainability : LIME / SHAP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1051560"/>
          </a:xfrm>
          <a:prstGeom prst="rect">
            <a:avLst/>
          </a:prstGeom>
          <a:solidFill>
            <a:srgbClr val="6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Merci — Questions ?</a:t>
            </a:r>
          </a:p>
          <a:p>
            <a:pPr algn="ctr"/>
            <a:r>
              <a:rPr sz="1200" b="0" i="0">
                <a:solidFill>
                  <a:srgbClr val="F0D0D8"/>
                </a:solidFill>
                <a:latin typeface="Calibri"/>
              </a:rPr>
              <a:t>SmartReview  ·  AIDI Omaima &amp; ELMOUSSAOUI Fatima  ·  Prof. M. EL HAJJI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B5E63"/>
                </a:solidFill>
                <a:latin typeface="Calibri"/>
              </a:rPr>
              <a:t>AIDI Omaima · ELMOUSSAOUI Fatima  |  Enc. Prof. M. EL HAJJI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68182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